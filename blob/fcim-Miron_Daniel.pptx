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7"/>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PT Serif Bold" charset="1" panose="020A0703040505020204"/>
      <p:regular r:id="rId20"/>
    </p:embeddedFont>
    <p:embeddedFont>
      <p:font typeface="PT Sans Bold" charset="1" panose="020B0703020203020204"/>
      <p:regular r:id="rId21"/>
    </p:embeddedFont>
    <p:embeddedFont>
      <p:font typeface="PT Sans" charset="1" panose="020B0503020203020204"/>
      <p:regular r:id="rId22"/>
    </p:embeddedFont>
    <p:embeddedFont>
      <p:font typeface="Roboto" charset="1" panose="02000000000000000000"/>
      <p:regular r:id="rId25"/>
    </p:embeddedFont>
    <p:embeddedFont>
      <p:font typeface="PT Serif" charset="1" panose="020A0603040505020204"/>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notesMasters/notesMaster1.xml" Type="http://schemas.openxmlformats.org/officeDocument/2006/relationships/notesMaster"/><Relationship Id="rId18" Target="theme/theme2.xml" Type="http://schemas.openxmlformats.org/officeDocument/2006/relationships/theme"/><Relationship Id="rId19" Target="notesSlides/notesSlide1.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fonts/font31.fntdata" Type="http://schemas.openxmlformats.org/officeDocument/2006/relationships/font"/><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4.png" Type="http://schemas.openxmlformats.org/officeDocument/2006/relationships/image"/><Relationship Id="rId5" Target="../media/image5.jpeg" Type="http://schemas.openxmlformats.org/officeDocument/2006/relationships/image"/><Relationship Id="rId6"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14" Target="../media/image19.png" Type="http://schemas.openxmlformats.org/officeDocument/2006/relationships/image"/><Relationship Id="rId15" Target="../media/image20.png" Type="http://schemas.openxmlformats.org/officeDocument/2006/relationships/image"/><Relationship Id="rId2" Target="../notesSlides/notesSlide7.xml" Type="http://schemas.openxmlformats.org/officeDocument/2006/relationships/notesSlide"/><Relationship Id="rId3" Target="../media/image1.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2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2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714823" y="761616"/>
            <a:ext cx="17041197" cy="2832000"/>
            <a:chOff x="0" y="0"/>
            <a:chExt cx="22721595" cy="3776000"/>
          </a:xfrm>
        </p:grpSpPr>
        <p:sp>
          <p:nvSpPr>
            <p:cNvPr name="Freeform 4" id="4"/>
            <p:cNvSpPr/>
            <p:nvPr/>
          </p:nvSpPr>
          <p:spPr>
            <a:xfrm flipH="false" flipV="false" rot="0">
              <a:off x="0" y="0"/>
              <a:ext cx="22721601" cy="3775998"/>
            </a:xfrm>
            <a:custGeom>
              <a:avLst/>
              <a:gdLst/>
              <a:ahLst/>
              <a:cxnLst/>
              <a:rect r="r" b="b" t="t" l="l"/>
              <a:pathLst>
                <a:path h="3775998" w="22721601">
                  <a:moveTo>
                    <a:pt x="0" y="0"/>
                  </a:moveTo>
                  <a:lnTo>
                    <a:pt x="22721601" y="0"/>
                  </a:lnTo>
                  <a:lnTo>
                    <a:pt x="22721601" y="3775998"/>
                  </a:lnTo>
                  <a:lnTo>
                    <a:pt x="0" y="3775998"/>
                  </a:lnTo>
                  <a:close/>
                </a:path>
              </a:pathLst>
            </a:custGeom>
            <a:blipFill>
              <a:blip r:embed="rId4">
                <a:alphaModFix amt="0"/>
              </a:blip>
              <a:stretch>
                <a:fillRect l="0" t="-118486" r="0" b="-118486"/>
              </a:stretch>
            </a:blipFill>
          </p:spPr>
        </p:sp>
        <p:sp>
          <p:nvSpPr>
            <p:cNvPr name="TextBox 5" id="5"/>
            <p:cNvSpPr txBox="true"/>
            <p:nvPr/>
          </p:nvSpPr>
          <p:spPr>
            <a:xfrm>
              <a:off x="0" y="0"/>
              <a:ext cx="22721595" cy="3776000"/>
            </a:xfrm>
            <a:prstGeom prst="rect">
              <a:avLst/>
            </a:prstGeom>
          </p:spPr>
          <p:txBody>
            <a:bodyPr anchor="b" rtlCol="false" tIns="0" lIns="0" bIns="0" rIns="0"/>
            <a:lstStyle/>
            <a:p>
              <a:pPr algn="l">
                <a:lnSpc>
                  <a:spcPts val="9600"/>
                </a:lnSpc>
              </a:pPr>
              <a:r>
                <a:rPr lang="en-US" b="true" sz="8000">
                  <a:solidFill>
                    <a:srgbClr val="FFFFFF"/>
                  </a:solidFill>
                  <a:latin typeface="PT Serif Bold"/>
                  <a:ea typeface="PT Serif Bold"/>
                  <a:cs typeface="PT Serif Bold"/>
                  <a:sym typeface="PT Serif Bold"/>
                </a:rPr>
                <a:t>Teză de Licență </a:t>
              </a:r>
            </a:p>
          </p:txBody>
        </p:sp>
      </p:grpSp>
      <p:grpSp>
        <p:nvGrpSpPr>
          <p:cNvPr name="Group 6" id="6"/>
          <p:cNvGrpSpPr/>
          <p:nvPr/>
        </p:nvGrpSpPr>
        <p:grpSpPr>
          <a:xfrm rot="0">
            <a:off x="943451" y="7661996"/>
            <a:ext cx="6013799" cy="1327800"/>
            <a:chOff x="0" y="0"/>
            <a:chExt cx="8018399" cy="1770400"/>
          </a:xfrm>
        </p:grpSpPr>
        <p:sp>
          <p:nvSpPr>
            <p:cNvPr name="Freeform 7" id="7"/>
            <p:cNvSpPr/>
            <p:nvPr/>
          </p:nvSpPr>
          <p:spPr>
            <a:xfrm flipH="false" flipV="false" rot="0">
              <a:off x="0" y="0"/>
              <a:ext cx="8018273" cy="1770248"/>
            </a:xfrm>
            <a:custGeom>
              <a:avLst/>
              <a:gdLst/>
              <a:ahLst/>
              <a:cxnLst/>
              <a:rect r="r" b="b" t="t" l="l"/>
              <a:pathLst>
                <a:path h="1770248" w="8018273">
                  <a:moveTo>
                    <a:pt x="0" y="295020"/>
                  </a:moveTo>
                  <a:cubicBezTo>
                    <a:pt x="0" y="132080"/>
                    <a:pt x="132080" y="0"/>
                    <a:pt x="295021" y="0"/>
                  </a:cubicBezTo>
                  <a:lnTo>
                    <a:pt x="7723251" y="0"/>
                  </a:lnTo>
                  <a:cubicBezTo>
                    <a:pt x="7886192" y="0"/>
                    <a:pt x="8018273" y="132080"/>
                    <a:pt x="8018273" y="295020"/>
                  </a:cubicBezTo>
                  <a:lnTo>
                    <a:pt x="8018273" y="1475228"/>
                  </a:lnTo>
                  <a:cubicBezTo>
                    <a:pt x="8018273" y="1638168"/>
                    <a:pt x="7886192" y="1770248"/>
                    <a:pt x="7723251" y="1770248"/>
                  </a:cubicBezTo>
                  <a:lnTo>
                    <a:pt x="295021" y="1770248"/>
                  </a:lnTo>
                  <a:cubicBezTo>
                    <a:pt x="132080" y="1770374"/>
                    <a:pt x="0" y="1638295"/>
                    <a:pt x="0" y="1475355"/>
                  </a:cubicBezTo>
                  <a:close/>
                </a:path>
              </a:pathLst>
            </a:custGeom>
            <a:gradFill rotWithShape="true">
              <a:gsLst>
                <a:gs pos="0">
                  <a:srgbClr val="3176EE">
                    <a:alpha val="100000"/>
                  </a:srgbClr>
                </a:gs>
                <a:gs pos="100000">
                  <a:srgbClr val="113D8A">
                    <a:alpha val="100000"/>
                  </a:srgbClr>
                </a:gs>
              </a:gsLst>
              <a:lin ang="5400012"/>
            </a:gradFill>
          </p:spPr>
        </p:sp>
        <p:sp>
          <p:nvSpPr>
            <p:cNvPr name="TextBox 8" id="8"/>
            <p:cNvSpPr txBox="true"/>
            <p:nvPr/>
          </p:nvSpPr>
          <p:spPr>
            <a:xfrm>
              <a:off x="0" y="-47625"/>
              <a:ext cx="8018399" cy="1818025"/>
            </a:xfrm>
            <a:prstGeom prst="rect">
              <a:avLst/>
            </a:prstGeom>
          </p:spPr>
          <p:txBody>
            <a:bodyPr anchor="ctr" rtlCol="false" tIns="50800" lIns="50800" bIns="50800" rIns="50800"/>
            <a:lstStyle/>
            <a:p>
              <a:pPr algn="ctr">
                <a:lnSpc>
                  <a:spcPts val="3830"/>
                </a:lnSpc>
              </a:pPr>
              <a:r>
                <a:rPr lang="en-US" b="true" sz="2799">
                  <a:solidFill>
                    <a:srgbClr val="F7F7F7"/>
                  </a:solidFill>
                  <a:latin typeface="PT Sans Bold"/>
                  <a:ea typeface="PT Sans Bold"/>
                  <a:cs typeface="PT Sans Bold"/>
                  <a:sym typeface="PT Sans Bold"/>
                </a:rPr>
                <a:t>Miron Daniel</a:t>
              </a:r>
            </a:p>
            <a:p>
              <a:pPr algn="ctr">
                <a:lnSpc>
                  <a:spcPts val="3283"/>
                </a:lnSpc>
              </a:pPr>
              <a:r>
                <a:rPr lang="en-US" b="true" sz="2400">
                  <a:solidFill>
                    <a:srgbClr val="F7F7F7"/>
                  </a:solidFill>
                  <a:latin typeface="PT Sans Bold"/>
                  <a:ea typeface="PT Sans Bold"/>
                  <a:cs typeface="PT Sans Bold"/>
                  <a:sym typeface="PT Sans Bold"/>
                </a:rPr>
                <a:t>Februarie</a:t>
              </a:r>
              <a:r>
                <a:rPr lang="en-US" sz="2400">
                  <a:solidFill>
                    <a:srgbClr val="F7F7F7"/>
                  </a:solidFill>
                  <a:latin typeface="PT Sans"/>
                  <a:ea typeface="PT Sans"/>
                  <a:cs typeface="PT Sans"/>
                  <a:sym typeface="PT Sans"/>
                </a:rPr>
                <a:t> 2026</a:t>
              </a:r>
            </a:p>
          </p:txBody>
        </p:sp>
      </p:grpSp>
      <p:sp>
        <p:nvSpPr>
          <p:cNvPr name="Freeform 9" id="9"/>
          <p:cNvSpPr/>
          <p:nvPr/>
        </p:nvSpPr>
        <p:spPr>
          <a:xfrm flipH="false" flipV="false" rot="0">
            <a:off x="9197193" y="3338566"/>
            <a:ext cx="8062107" cy="4576925"/>
          </a:xfrm>
          <a:custGeom>
            <a:avLst/>
            <a:gdLst/>
            <a:ahLst/>
            <a:cxnLst/>
            <a:rect r="r" b="b" t="t" l="l"/>
            <a:pathLst>
              <a:path h="4576925" w="8062107">
                <a:moveTo>
                  <a:pt x="0" y="0"/>
                </a:moveTo>
                <a:lnTo>
                  <a:pt x="8062107" y="0"/>
                </a:lnTo>
                <a:lnTo>
                  <a:pt x="8062107" y="4576925"/>
                </a:lnTo>
                <a:lnTo>
                  <a:pt x="0" y="4576925"/>
                </a:lnTo>
                <a:lnTo>
                  <a:pt x="0" y="0"/>
                </a:lnTo>
                <a:close/>
              </a:path>
            </a:pathLst>
          </a:custGeom>
          <a:blipFill>
            <a:blip r:embed="rId5"/>
            <a:stretch>
              <a:fillRect l="0" t="0" r="0" b="0"/>
            </a:stretch>
          </a:blipFill>
        </p:spPr>
      </p:sp>
      <p:sp>
        <p:nvSpPr>
          <p:cNvPr name="TextBox 10" id="10"/>
          <p:cNvSpPr txBox="true"/>
          <p:nvPr/>
        </p:nvSpPr>
        <p:spPr>
          <a:xfrm rot="0">
            <a:off x="1230432" y="3731210"/>
            <a:ext cx="7011152" cy="2466975"/>
          </a:xfrm>
          <a:prstGeom prst="rect">
            <a:avLst/>
          </a:prstGeom>
        </p:spPr>
        <p:txBody>
          <a:bodyPr anchor="t" rtlCol="false" tIns="0" lIns="0" bIns="0" rIns="0">
            <a:spAutoFit/>
          </a:bodyPr>
          <a:lstStyle/>
          <a:p>
            <a:pPr algn="l">
              <a:lnSpc>
                <a:spcPts val="6480"/>
              </a:lnSpc>
            </a:pPr>
            <a:r>
              <a:rPr lang="en-US" sz="5400">
                <a:solidFill>
                  <a:srgbClr val="FFFFFF"/>
                </a:solidFill>
                <a:latin typeface="PT Sans"/>
                <a:ea typeface="PT Sans"/>
                <a:cs typeface="PT Sans"/>
                <a:sym typeface="PT Sans"/>
              </a:rPr>
              <a:t>Influența AI-ului in practicile DevOps </a:t>
            </a:r>
          </a:p>
          <a:p>
            <a:pPr algn="l">
              <a:lnSpc>
                <a:spcPts val="648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582673" y="1878824"/>
            <a:ext cx="16858355" cy="838200"/>
          </a:xfrm>
          <a:prstGeom prst="rect">
            <a:avLst/>
          </a:prstGeom>
        </p:spPr>
        <p:txBody>
          <a:bodyPr anchor="t" rtlCol="false" tIns="0" lIns="0" bIns="0" rIns="0">
            <a:spAutoFit/>
          </a:bodyPr>
          <a:lstStyle/>
          <a:p>
            <a:pPr algn="l">
              <a:lnSpc>
                <a:spcPts val="6719"/>
              </a:lnSpc>
            </a:pPr>
            <a:r>
              <a:rPr lang="en-US" b="true" sz="5599">
                <a:solidFill>
                  <a:srgbClr val="FFFFFF"/>
                </a:solidFill>
                <a:latin typeface="PT Serif Bold"/>
                <a:ea typeface="PT Serif Bold"/>
                <a:cs typeface="PT Serif Bold"/>
                <a:sym typeface="PT Serif Bold"/>
              </a:rPr>
              <a:t>Subiectele abordate</a:t>
            </a:r>
          </a:p>
        </p:txBody>
      </p:sp>
      <p:sp>
        <p:nvSpPr>
          <p:cNvPr name="TextBox 4" id="4"/>
          <p:cNvSpPr txBox="true"/>
          <p:nvPr/>
        </p:nvSpPr>
        <p:spPr>
          <a:xfrm rot="0">
            <a:off x="1028700" y="3236404"/>
            <a:ext cx="16858355" cy="3852291"/>
          </a:xfrm>
          <a:prstGeom prst="rect">
            <a:avLst/>
          </a:prstGeom>
        </p:spPr>
        <p:txBody>
          <a:bodyPr anchor="t" rtlCol="false" tIns="0" lIns="0" bIns="0" rIns="0">
            <a:spAutoFit/>
          </a:bodyPr>
          <a:lstStyle/>
          <a:p>
            <a:pPr algn="l" marL="868223" indent="-434111" lvl="1">
              <a:lnSpc>
                <a:spcPts val="3888"/>
              </a:lnSpc>
              <a:buFont typeface="Arial"/>
              <a:buChar char="•"/>
            </a:pPr>
            <a:r>
              <a:rPr lang="en-US" sz="3600">
                <a:solidFill>
                  <a:srgbClr val="FFFFFF"/>
                </a:solidFill>
                <a:latin typeface="PT Sans"/>
                <a:ea typeface="PT Sans"/>
                <a:cs typeface="PT Sans"/>
                <a:sym typeface="PT Sans"/>
              </a:rPr>
              <a:t>Introducere</a:t>
            </a:r>
          </a:p>
          <a:p>
            <a:pPr algn="l" marL="868223" indent="-434111" lvl="1">
              <a:lnSpc>
                <a:spcPts val="3888"/>
              </a:lnSpc>
              <a:buFont typeface="Arial"/>
              <a:buChar char="•"/>
            </a:pPr>
            <a:r>
              <a:rPr lang="en-US" sz="3600">
                <a:solidFill>
                  <a:srgbClr val="FFFFFF"/>
                </a:solidFill>
                <a:latin typeface="PT Sans"/>
                <a:ea typeface="PT Sans"/>
                <a:cs typeface="PT Sans"/>
                <a:sym typeface="PT Sans"/>
              </a:rPr>
              <a:t>Inteligenta artificiala in productie</a:t>
            </a:r>
          </a:p>
          <a:p>
            <a:pPr algn="l" marL="868223" indent="-434111" lvl="1">
              <a:lnSpc>
                <a:spcPts val="3888"/>
              </a:lnSpc>
              <a:buFont typeface="Arial"/>
              <a:buChar char="•"/>
            </a:pPr>
            <a:r>
              <a:rPr lang="en-US" sz="3600">
                <a:solidFill>
                  <a:srgbClr val="FFFFFF"/>
                </a:solidFill>
                <a:latin typeface="PT Sans"/>
                <a:ea typeface="PT Sans"/>
                <a:cs typeface="PT Sans"/>
                <a:sym typeface="PT Sans"/>
              </a:rPr>
              <a:t>Aplicatia</a:t>
            </a:r>
          </a:p>
          <a:p>
            <a:pPr algn="l" marL="868223" indent="-434111" lvl="1">
              <a:lnSpc>
                <a:spcPts val="3888"/>
              </a:lnSpc>
              <a:buFont typeface="Arial"/>
              <a:buChar char="•"/>
            </a:pPr>
            <a:r>
              <a:rPr lang="en-US" sz="3600">
                <a:solidFill>
                  <a:srgbClr val="FFFFFF"/>
                </a:solidFill>
                <a:latin typeface="PT Sans"/>
                <a:ea typeface="PT Sans"/>
                <a:cs typeface="PT Sans"/>
                <a:sym typeface="PT Sans"/>
              </a:rPr>
              <a:t>Infrastructura</a:t>
            </a:r>
          </a:p>
          <a:p>
            <a:pPr algn="l" marL="868223" indent="-434111" lvl="1">
              <a:lnSpc>
                <a:spcPts val="3888"/>
              </a:lnSpc>
              <a:buFont typeface="Arial"/>
              <a:buChar char="•"/>
            </a:pPr>
            <a:r>
              <a:rPr lang="en-US" sz="3600">
                <a:solidFill>
                  <a:srgbClr val="FFFFFF"/>
                </a:solidFill>
                <a:latin typeface="PT Sans"/>
                <a:ea typeface="PT Sans"/>
                <a:cs typeface="PT Sans"/>
                <a:sym typeface="PT Sans"/>
              </a:rPr>
              <a:t>Tehnologiile Folosite</a:t>
            </a:r>
          </a:p>
          <a:p>
            <a:pPr algn="l" marL="868223" indent="-434111" lvl="1">
              <a:lnSpc>
                <a:spcPts val="3888"/>
              </a:lnSpc>
              <a:buFont typeface="Arial"/>
              <a:buChar char="•"/>
            </a:pPr>
            <a:r>
              <a:rPr lang="en-US" sz="3600">
                <a:solidFill>
                  <a:srgbClr val="FFFFFF"/>
                </a:solidFill>
                <a:latin typeface="PT Sans"/>
                <a:ea typeface="PT Sans"/>
                <a:cs typeface="PT Sans"/>
                <a:sym typeface="PT Sans"/>
              </a:rPr>
              <a:t>Rezulatatul Final</a:t>
            </a:r>
          </a:p>
          <a:p>
            <a:pPr algn="l" marL="868680" indent="-434340" lvl="1">
              <a:lnSpc>
                <a:spcPts val="3888"/>
              </a:lnSpc>
              <a:buFont typeface="Arial"/>
              <a:buChar char="•"/>
            </a:pPr>
            <a:r>
              <a:rPr lang="en-US" sz="3600">
                <a:solidFill>
                  <a:srgbClr val="FFFFFF"/>
                </a:solidFill>
                <a:latin typeface="PT Sans"/>
                <a:ea typeface="PT Sans"/>
                <a:cs typeface="PT Sans"/>
                <a:sym typeface="PT Sans"/>
              </a:rPr>
              <a:t>Concluzia</a:t>
            </a:r>
          </a:p>
          <a:p>
            <a:pPr algn="l">
              <a:lnSpc>
                <a:spcPts val="345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714075" y="1930901"/>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Introducere</a:t>
            </a:r>
          </a:p>
        </p:txBody>
      </p:sp>
      <p:sp>
        <p:nvSpPr>
          <p:cNvPr name="TextBox 4" id="4"/>
          <p:cNvSpPr txBox="true"/>
          <p:nvPr/>
        </p:nvSpPr>
        <p:spPr>
          <a:xfrm rot="0">
            <a:off x="714075" y="3239082"/>
            <a:ext cx="7490034" cy="2743032"/>
          </a:xfrm>
          <a:prstGeom prst="rect">
            <a:avLst/>
          </a:prstGeom>
        </p:spPr>
        <p:txBody>
          <a:bodyPr anchor="t" rtlCol="false" tIns="0" lIns="0" bIns="0" rIns="0">
            <a:spAutoFit/>
          </a:bodyPr>
          <a:lstStyle/>
          <a:p>
            <a:pPr algn="just">
              <a:lnSpc>
                <a:spcPts val="2013"/>
              </a:lnSpc>
              <a:spcBef>
                <a:spcPct val="0"/>
              </a:spcBef>
            </a:pPr>
            <a:r>
              <a:rPr lang="en-US" sz="1863">
                <a:solidFill>
                  <a:srgbClr val="F2F4F8"/>
                </a:solidFill>
                <a:latin typeface="Roboto"/>
                <a:ea typeface="Roboto"/>
                <a:cs typeface="Roboto"/>
                <a:sym typeface="Roboto"/>
              </a:rPr>
              <a:t>Inteligența artificială a devenit un factor esențial în domeniul IT, influențând aproape toate aspectele acestei industrii. Una dintre cele mai importante contribuții ale AI este automatizarea proceselor repetitive, cum ar fi monitorizarea serverelor, gestionarea deploy-urilor, testarea automată sau analiza log-urilor.În contextul magazinelor online, integrarea unui AI assistant local aduce multiple beneficii. Spre deosebire de soluțiile cloud, un asistent care rulează local păstrează confidențialitatea datelor clienților și respectă reglementările stricte precum GDPR. Răspunsurile AI sunt aproape instantanee, fără a depinde de conexiunea la internet sau de serviciile externe, ceea ce este esențial pentru sisteme critice sau site-uri cu trafic intens.</a:t>
            </a:r>
          </a:p>
        </p:txBody>
      </p:sp>
      <p:sp>
        <p:nvSpPr>
          <p:cNvPr name="TextBox 5" id="5"/>
          <p:cNvSpPr txBox="true"/>
          <p:nvPr/>
        </p:nvSpPr>
        <p:spPr>
          <a:xfrm rot="0">
            <a:off x="9769266" y="7000749"/>
            <a:ext cx="7490034" cy="1752432"/>
          </a:xfrm>
          <a:prstGeom prst="rect">
            <a:avLst/>
          </a:prstGeom>
        </p:spPr>
        <p:txBody>
          <a:bodyPr anchor="t" rtlCol="false" tIns="0" lIns="0" bIns="0" rIns="0">
            <a:spAutoFit/>
          </a:bodyPr>
          <a:lstStyle/>
          <a:p>
            <a:pPr algn="just">
              <a:lnSpc>
                <a:spcPts val="2013"/>
              </a:lnSpc>
              <a:spcBef>
                <a:spcPct val="0"/>
              </a:spcBef>
            </a:pPr>
            <a:r>
              <a:rPr lang="en-US" sz="1863">
                <a:solidFill>
                  <a:srgbClr val="F2F4F8"/>
                </a:solidFill>
                <a:latin typeface="Roboto"/>
                <a:ea typeface="Roboto"/>
                <a:cs typeface="Roboto"/>
                <a:sym typeface="Roboto"/>
              </a:rPr>
              <a:t>Integrarea </a:t>
            </a:r>
            <a:r>
              <a:rPr lang="en-US" sz="1863">
                <a:solidFill>
                  <a:srgbClr val="F2F4F8"/>
                </a:solidFill>
                <a:latin typeface="Roboto"/>
                <a:ea typeface="Roboto"/>
                <a:cs typeface="Roboto"/>
                <a:sym typeface="Roboto"/>
              </a:rPr>
              <a:t>Inteligenței Artificiale în practicile DevOps reprezintă trecerea de la automatizarea bazată pe reguli fixe la AIOps (Artificial Intelligence for IT Operations). Această evoluție permite sistemelor nu doar să execute sarcini, ci să învețe din date pentru a prezice probleme înainte ca acestea să afecteze utilizatorii.</a:t>
            </a:r>
          </a:p>
          <a:p>
            <a:pPr algn="just">
              <a:lnSpc>
                <a:spcPts val="2013"/>
              </a:lnSpc>
              <a:spcBef>
                <a:spcPct val="0"/>
              </a:spcBef>
            </a:pPr>
          </a:p>
          <a:p>
            <a:pPr algn="just">
              <a:lnSpc>
                <a:spcPts val="2013"/>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1515042" y="5220641"/>
            <a:ext cx="2399361" cy="2399361"/>
          </a:xfrm>
          <a:custGeom>
            <a:avLst/>
            <a:gdLst/>
            <a:ahLst/>
            <a:cxnLst/>
            <a:rect r="r" b="b" t="t" l="l"/>
            <a:pathLst>
              <a:path h="2399361" w="2399361">
                <a:moveTo>
                  <a:pt x="0" y="0"/>
                </a:moveTo>
                <a:lnTo>
                  <a:pt x="2399362" y="0"/>
                </a:lnTo>
                <a:lnTo>
                  <a:pt x="2399362" y="2399361"/>
                </a:lnTo>
                <a:lnTo>
                  <a:pt x="0" y="2399361"/>
                </a:lnTo>
                <a:lnTo>
                  <a:pt x="0" y="0"/>
                </a:lnTo>
                <a:close/>
              </a:path>
            </a:pathLst>
          </a:custGeom>
          <a:blipFill>
            <a:blip r:embed="rId4"/>
            <a:stretch>
              <a:fillRect l="0" t="0" r="0" b="0"/>
            </a:stretch>
          </a:blipFill>
        </p:spPr>
      </p:sp>
      <p:sp>
        <p:nvSpPr>
          <p:cNvPr name="Freeform 4" id="4"/>
          <p:cNvSpPr/>
          <p:nvPr/>
        </p:nvSpPr>
        <p:spPr>
          <a:xfrm flipH="false" flipV="false" rot="0">
            <a:off x="6414329" y="5161339"/>
            <a:ext cx="3873793" cy="2517965"/>
          </a:xfrm>
          <a:custGeom>
            <a:avLst/>
            <a:gdLst/>
            <a:ahLst/>
            <a:cxnLst/>
            <a:rect r="r" b="b" t="t" l="l"/>
            <a:pathLst>
              <a:path h="2517965" w="3873793">
                <a:moveTo>
                  <a:pt x="0" y="0"/>
                </a:moveTo>
                <a:lnTo>
                  <a:pt x="3873792" y="0"/>
                </a:lnTo>
                <a:lnTo>
                  <a:pt x="3873792" y="2517965"/>
                </a:lnTo>
                <a:lnTo>
                  <a:pt x="0" y="2517965"/>
                </a:lnTo>
                <a:lnTo>
                  <a:pt x="0" y="0"/>
                </a:lnTo>
                <a:close/>
              </a:path>
            </a:pathLst>
          </a:custGeom>
          <a:blipFill>
            <a:blip r:embed="rId5"/>
            <a:stretch>
              <a:fillRect l="0" t="0" r="0" b="0"/>
            </a:stretch>
          </a:blipFill>
        </p:spPr>
      </p:sp>
      <p:sp>
        <p:nvSpPr>
          <p:cNvPr name="Freeform 5" id="5"/>
          <p:cNvSpPr/>
          <p:nvPr/>
        </p:nvSpPr>
        <p:spPr>
          <a:xfrm flipH="false" flipV="false" rot="0">
            <a:off x="12891279" y="5143500"/>
            <a:ext cx="3833422" cy="2535804"/>
          </a:xfrm>
          <a:custGeom>
            <a:avLst/>
            <a:gdLst/>
            <a:ahLst/>
            <a:cxnLst/>
            <a:rect r="r" b="b" t="t" l="l"/>
            <a:pathLst>
              <a:path h="2535804" w="3833422">
                <a:moveTo>
                  <a:pt x="0" y="0"/>
                </a:moveTo>
                <a:lnTo>
                  <a:pt x="3833423" y="0"/>
                </a:lnTo>
                <a:lnTo>
                  <a:pt x="3833423" y="2535804"/>
                </a:lnTo>
                <a:lnTo>
                  <a:pt x="0" y="2535804"/>
                </a:lnTo>
                <a:lnTo>
                  <a:pt x="0" y="0"/>
                </a:lnTo>
                <a:close/>
              </a:path>
            </a:pathLst>
          </a:custGeom>
          <a:blipFill>
            <a:blip r:embed="rId6"/>
            <a:stretch>
              <a:fillRect l="0" t="0" r="0" b="-6198"/>
            </a:stretch>
          </a:blipFill>
        </p:spPr>
      </p:sp>
      <p:sp>
        <p:nvSpPr>
          <p:cNvPr name="TextBox 6" id="6"/>
          <p:cNvSpPr txBox="true"/>
          <p:nvPr/>
        </p:nvSpPr>
        <p:spPr>
          <a:xfrm rot="0">
            <a:off x="2714723" y="1480856"/>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Inteligenta Artificiala in Productie</a:t>
            </a:r>
          </a:p>
        </p:txBody>
      </p:sp>
      <p:sp>
        <p:nvSpPr>
          <p:cNvPr name="TextBox 7" id="7"/>
          <p:cNvSpPr txBox="true"/>
          <p:nvPr/>
        </p:nvSpPr>
        <p:spPr>
          <a:xfrm rot="0">
            <a:off x="714075" y="3014381"/>
            <a:ext cx="4214357" cy="1446108"/>
          </a:xfrm>
          <a:prstGeom prst="rect">
            <a:avLst/>
          </a:prstGeom>
        </p:spPr>
        <p:txBody>
          <a:bodyPr anchor="t" rtlCol="false" tIns="0" lIns="0" bIns="0" rIns="0">
            <a:spAutoFit/>
          </a:bodyPr>
          <a:lstStyle/>
          <a:p>
            <a:pPr algn="ctr">
              <a:lnSpc>
                <a:spcPts val="1905"/>
              </a:lnSpc>
              <a:spcBef>
                <a:spcPct val="0"/>
              </a:spcBef>
            </a:pPr>
            <a:r>
              <a:rPr lang="en-US" sz="1764">
                <a:solidFill>
                  <a:srgbClr val="F2F4F8"/>
                </a:solidFill>
                <a:latin typeface="Roboto"/>
                <a:ea typeface="Roboto"/>
                <a:cs typeface="Roboto"/>
                <a:sym typeface="Roboto"/>
              </a:rPr>
              <a:t>In productie Inteligenta Artificiala a devenit parte din majoritatea proceselor de munca. Incepand de la scrierea Documentatiei pana la Agent care monitorizeaza, implementeaza si descopera vulnarabilitati. </a:t>
            </a:r>
          </a:p>
        </p:txBody>
      </p:sp>
      <p:sp>
        <p:nvSpPr>
          <p:cNvPr name="TextBox 8" id="8"/>
          <p:cNvSpPr txBox="true"/>
          <p:nvPr/>
        </p:nvSpPr>
        <p:spPr>
          <a:xfrm rot="0">
            <a:off x="6414329" y="3014381"/>
            <a:ext cx="4289694" cy="1207922"/>
          </a:xfrm>
          <a:prstGeom prst="rect">
            <a:avLst/>
          </a:prstGeom>
        </p:spPr>
        <p:txBody>
          <a:bodyPr anchor="t" rtlCol="false" tIns="0" lIns="0" bIns="0" rIns="0">
            <a:spAutoFit/>
          </a:bodyPr>
          <a:lstStyle/>
          <a:p>
            <a:pPr algn="ctr">
              <a:lnSpc>
                <a:spcPts val="1900"/>
              </a:lnSpc>
              <a:spcBef>
                <a:spcPct val="0"/>
              </a:spcBef>
            </a:pPr>
            <a:r>
              <a:rPr lang="en-US" sz="1760">
                <a:solidFill>
                  <a:srgbClr val="F2F4F8"/>
                </a:solidFill>
                <a:latin typeface="Roboto"/>
                <a:ea typeface="Roboto"/>
                <a:cs typeface="Roboto"/>
                <a:sym typeface="Roboto"/>
              </a:rPr>
              <a:t>Inteligenta Artificiala ca Agent reprezinta acea integrare completa in proiect care analizeaza descopera si vine cu modificari proprii in a inbunatati dezvoltarea proiectului</a:t>
            </a:r>
          </a:p>
        </p:txBody>
      </p:sp>
      <p:sp>
        <p:nvSpPr>
          <p:cNvPr name="TextBox 9" id="9"/>
          <p:cNvSpPr txBox="true"/>
          <p:nvPr/>
        </p:nvSpPr>
        <p:spPr>
          <a:xfrm rot="0">
            <a:off x="12796859" y="3014381"/>
            <a:ext cx="4289694" cy="1207922"/>
          </a:xfrm>
          <a:prstGeom prst="rect">
            <a:avLst/>
          </a:prstGeom>
        </p:spPr>
        <p:txBody>
          <a:bodyPr anchor="t" rtlCol="false" tIns="0" lIns="0" bIns="0" rIns="0">
            <a:spAutoFit/>
          </a:bodyPr>
          <a:lstStyle/>
          <a:p>
            <a:pPr algn="ctr">
              <a:lnSpc>
                <a:spcPts val="1900"/>
              </a:lnSpc>
              <a:spcBef>
                <a:spcPct val="0"/>
              </a:spcBef>
            </a:pPr>
            <a:r>
              <a:rPr lang="en-US" sz="1760">
                <a:solidFill>
                  <a:srgbClr val="F2F4F8"/>
                </a:solidFill>
                <a:latin typeface="Roboto"/>
                <a:ea typeface="Roboto"/>
                <a:cs typeface="Roboto"/>
                <a:sym typeface="Roboto"/>
              </a:rPr>
              <a:t>Inteligenta Artificiala poate fi integrata in cadrul unei infrastructurii dandui aces la resurse ca sa monitorizeze sau sa depisteze potentiale probleme in cadrul infrastructurii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8677107" y="2029831"/>
            <a:ext cx="7688067" cy="7342104"/>
          </a:xfrm>
          <a:custGeom>
            <a:avLst/>
            <a:gdLst/>
            <a:ahLst/>
            <a:cxnLst/>
            <a:rect r="r" b="b" t="t" l="l"/>
            <a:pathLst>
              <a:path h="7342104" w="7688067">
                <a:moveTo>
                  <a:pt x="0" y="0"/>
                </a:moveTo>
                <a:lnTo>
                  <a:pt x="7688067" y="0"/>
                </a:lnTo>
                <a:lnTo>
                  <a:pt x="7688067" y="7342104"/>
                </a:lnTo>
                <a:lnTo>
                  <a:pt x="0" y="7342104"/>
                </a:lnTo>
                <a:lnTo>
                  <a:pt x="0" y="0"/>
                </a:lnTo>
                <a:close/>
              </a:path>
            </a:pathLst>
          </a:custGeom>
          <a:blipFill>
            <a:blip r:embed="rId4"/>
            <a:stretch>
              <a:fillRect l="0" t="0" r="0" b="0"/>
            </a:stretch>
          </a:blipFill>
        </p:spPr>
      </p:sp>
      <p:sp>
        <p:nvSpPr>
          <p:cNvPr name="TextBox 4" id="4"/>
          <p:cNvSpPr txBox="true"/>
          <p:nvPr/>
        </p:nvSpPr>
        <p:spPr>
          <a:xfrm rot="0">
            <a:off x="714075" y="1930901"/>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Aplicatia</a:t>
            </a:r>
          </a:p>
        </p:txBody>
      </p:sp>
      <p:sp>
        <p:nvSpPr>
          <p:cNvPr name="TextBox 5" id="5"/>
          <p:cNvSpPr txBox="true"/>
          <p:nvPr/>
        </p:nvSpPr>
        <p:spPr>
          <a:xfrm rot="0">
            <a:off x="1764105" y="2931128"/>
            <a:ext cx="4542747" cy="1559534"/>
          </a:xfrm>
          <a:prstGeom prst="rect">
            <a:avLst/>
          </a:prstGeom>
        </p:spPr>
        <p:txBody>
          <a:bodyPr anchor="t" rtlCol="false" tIns="0" lIns="0" bIns="0" rIns="0">
            <a:spAutoFit/>
          </a:bodyPr>
          <a:lstStyle/>
          <a:p>
            <a:pPr algn="l">
              <a:lnSpc>
                <a:spcPts val="2053"/>
              </a:lnSpc>
              <a:spcBef>
                <a:spcPct val="0"/>
              </a:spcBef>
            </a:pPr>
            <a:r>
              <a:rPr lang="en-US" sz="1901">
                <a:solidFill>
                  <a:srgbClr val="F2F4F8"/>
                </a:solidFill>
                <a:latin typeface="Roboto"/>
                <a:ea typeface="Roboto"/>
                <a:cs typeface="Roboto"/>
                <a:sym typeface="Roboto"/>
              </a:rPr>
              <a:t>Pentru a evidenția în mod practic aplicarea principiilor DevOps, a fost utilizat codul sursă al unui magazin online, demonstrându-se integrarea unui AI în aplicație, precum și rularea acesteia într-un mediu containerizat.</a:t>
            </a:r>
          </a:p>
        </p:txBody>
      </p:sp>
      <p:sp>
        <p:nvSpPr>
          <p:cNvPr name="TextBox 6" id="6"/>
          <p:cNvSpPr txBox="true"/>
          <p:nvPr/>
        </p:nvSpPr>
        <p:spPr>
          <a:xfrm rot="0">
            <a:off x="1764105" y="6063953"/>
            <a:ext cx="6198564" cy="1922358"/>
          </a:xfrm>
          <a:prstGeom prst="rect">
            <a:avLst/>
          </a:prstGeom>
        </p:spPr>
        <p:txBody>
          <a:bodyPr anchor="t" rtlCol="false" tIns="0" lIns="0" bIns="0" rIns="0">
            <a:spAutoFit/>
          </a:bodyPr>
          <a:lstStyle/>
          <a:p>
            <a:pPr algn="l">
              <a:lnSpc>
                <a:spcPts val="1905"/>
              </a:lnSpc>
              <a:spcBef>
                <a:spcPct val="0"/>
              </a:spcBef>
            </a:pPr>
            <a:r>
              <a:rPr lang="en-US" sz="1764">
                <a:solidFill>
                  <a:srgbClr val="F2F4F8"/>
                </a:solidFill>
                <a:latin typeface="Roboto"/>
                <a:ea typeface="Roboto"/>
                <a:cs typeface="Roboto"/>
                <a:sym typeface="Roboto"/>
              </a:rPr>
              <a:t>Ollama este un instrument open-source care permite descărcarea, gestionarea și rularea facilă a modelelor lingvistice mari (LLM) direct pe mașina locală. Acesta simplifică utilizarea modelelor AI, precum Llama 3, Mistral și altele, eliminând complexitatea procesului de configurare. Ollama este compatibil cu macOS, Linux și Windows și oferă posibilitatea de a utiliza inteligența artificială în mod privat, offline și cu costuri reduse.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4454058" y="1237701"/>
            <a:ext cx="8403605" cy="8403605"/>
          </a:xfrm>
          <a:custGeom>
            <a:avLst/>
            <a:gdLst/>
            <a:ahLst/>
            <a:cxnLst/>
            <a:rect r="r" b="b" t="t" l="l"/>
            <a:pathLst>
              <a:path h="8403605" w="8403605">
                <a:moveTo>
                  <a:pt x="0" y="0"/>
                </a:moveTo>
                <a:lnTo>
                  <a:pt x="8403604" y="0"/>
                </a:lnTo>
                <a:lnTo>
                  <a:pt x="8403604" y="8403604"/>
                </a:lnTo>
                <a:lnTo>
                  <a:pt x="0" y="8403604"/>
                </a:lnTo>
                <a:lnTo>
                  <a:pt x="0" y="0"/>
                </a:lnTo>
                <a:close/>
              </a:path>
            </a:pathLst>
          </a:custGeom>
          <a:blipFill>
            <a:blip r:embed="rId4"/>
            <a:stretch>
              <a:fillRect l="0" t="0" r="0" b="0"/>
            </a:stretch>
          </a:blipFill>
        </p:spPr>
      </p:sp>
      <p:sp>
        <p:nvSpPr>
          <p:cNvPr name="TextBox 4" id="4"/>
          <p:cNvSpPr txBox="true"/>
          <p:nvPr/>
        </p:nvSpPr>
        <p:spPr>
          <a:xfrm rot="0">
            <a:off x="6070045" y="190500"/>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Infrastructura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7495852" y="5329355"/>
            <a:ext cx="1648148" cy="914890"/>
          </a:xfrm>
          <a:custGeom>
            <a:avLst/>
            <a:gdLst/>
            <a:ahLst/>
            <a:cxnLst/>
            <a:rect r="r" b="b" t="t" l="l"/>
            <a:pathLst>
              <a:path h="914890" w="1648148">
                <a:moveTo>
                  <a:pt x="0" y="0"/>
                </a:moveTo>
                <a:lnTo>
                  <a:pt x="1648148" y="0"/>
                </a:lnTo>
                <a:lnTo>
                  <a:pt x="1648148" y="914891"/>
                </a:lnTo>
                <a:lnTo>
                  <a:pt x="0" y="914891"/>
                </a:lnTo>
                <a:lnTo>
                  <a:pt x="0" y="0"/>
                </a:lnTo>
                <a:close/>
              </a:path>
            </a:pathLst>
          </a:custGeom>
          <a:blipFill>
            <a:blip r:embed="rId4"/>
            <a:stretch>
              <a:fillRect l="0" t="0" r="0" b="0"/>
            </a:stretch>
          </a:blipFill>
        </p:spPr>
      </p:sp>
      <p:sp>
        <p:nvSpPr>
          <p:cNvPr name="Freeform 4" id="4"/>
          <p:cNvSpPr/>
          <p:nvPr/>
        </p:nvSpPr>
        <p:spPr>
          <a:xfrm flipH="false" flipV="false" rot="0">
            <a:off x="12731417" y="5202038"/>
            <a:ext cx="1854589" cy="1191072"/>
          </a:xfrm>
          <a:custGeom>
            <a:avLst/>
            <a:gdLst/>
            <a:ahLst/>
            <a:cxnLst/>
            <a:rect r="r" b="b" t="t" l="l"/>
            <a:pathLst>
              <a:path h="1191072" w="1854589">
                <a:moveTo>
                  <a:pt x="0" y="0"/>
                </a:moveTo>
                <a:lnTo>
                  <a:pt x="1854589" y="0"/>
                </a:lnTo>
                <a:lnTo>
                  <a:pt x="1854589" y="1191072"/>
                </a:lnTo>
                <a:lnTo>
                  <a:pt x="0" y="1191072"/>
                </a:lnTo>
                <a:lnTo>
                  <a:pt x="0" y="0"/>
                </a:lnTo>
                <a:close/>
              </a:path>
            </a:pathLst>
          </a:custGeom>
          <a:blipFill>
            <a:blip r:embed="rId5"/>
            <a:stretch>
              <a:fillRect l="-7150" t="0" r="-7150" b="0"/>
            </a:stretch>
          </a:blipFill>
        </p:spPr>
      </p:sp>
      <p:sp>
        <p:nvSpPr>
          <p:cNvPr name="Freeform 5" id="5"/>
          <p:cNvSpPr/>
          <p:nvPr/>
        </p:nvSpPr>
        <p:spPr>
          <a:xfrm flipH="false" flipV="false" rot="0">
            <a:off x="10561811" y="5202038"/>
            <a:ext cx="1075219" cy="1042208"/>
          </a:xfrm>
          <a:custGeom>
            <a:avLst/>
            <a:gdLst/>
            <a:ahLst/>
            <a:cxnLst/>
            <a:rect r="r" b="b" t="t" l="l"/>
            <a:pathLst>
              <a:path h="1042208" w="1075219">
                <a:moveTo>
                  <a:pt x="0" y="0"/>
                </a:moveTo>
                <a:lnTo>
                  <a:pt x="1075220" y="0"/>
                </a:lnTo>
                <a:lnTo>
                  <a:pt x="1075220" y="1042208"/>
                </a:lnTo>
                <a:lnTo>
                  <a:pt x="0" y="1042208"/>
                </a:lnTo>
                <a:lnTo>
                  <a:pt x="0" y="0"/>
                </a:lnTo>
                <a:close/>
              </a:path>
            </a:pathLst>
          </a:custGeom>
          <a:blipFill>
            <a:blip r:embed="rId6"/>
            <a:stretch>
              <a:fillRect l="0" t="0" r="0" b="0"/>
            </a:stretch>
          </a:blipFill>
        </p:spPr>
      </p:sp>
      <p:sp>
        <p:nvSpPr>
          <p:cNvPr name="Freeform 6" id="6"/>
          <p:cNvSpPr/>
          <p:nvPr/>
        </p:nvSpPr>
        <p:spPr>
          <a:xfrm flipH="false" flipV="false" rot="0">
            <a:off x="9710701" y="3120819"/>
            <a:ext cx="1702220" cy="1120974"/>
          </a:xfrm>
          <a:custGeom>
            <a:avLst/>
            <a:gdLst/>
            <a:ahLst/>
            <a:cxnLst/>
            <a:rect r="r" b="b" t="t" l="l"/>
            <a:pathLst>
              <a:path h="1120974" w="1702220">
                <a:moveTo>
                  <a:pt x="0" y="0"/>
                </a:moveTo>
                <a:lnTo>
                  <a:pt x="1702220" y="0"/>
                </a:lnTo>
                <a:lnTo>
                  <a:pt x="1702220" y="1120974"/>
                </a:lnTo>
                <a:lnTo>
                  <a:pt x="0" y="11209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6871493" y="6639246"/>
            <a:ext cx="2839209" cy="1892806"/>
          </a:xfrm>
          <a:custGeom>
            <a:avLst/>
            <a:gdLst/>
            <a:ahLst/>
            <a:cxnLst/>
            <a:rect r="r" b="b" t="t" l="l"/>
            <a:pathLst>
              <a:path h="1892806" w="2839209">
                <a:moveTo>
                  <a:pt x="0" y="0"/>
                </a:moveTo>
                <a:lnTo>
                  <a:pt x="2839208" y="0"/>
                </a:lnTo>
                <a:lnTo>
                  <a:pt x="2839208" y="1892806"/>
                </a:lnTo>
                <a:lnTo>
                  <a:pt x="0" y="1892806"/>
                </a:lnTo>
                <a:lnTo>
                  <a:pt x="0" y="0"/>
                </a:lnTo>
                <a:close/>
              </a:path>
            </a:pathLst>
          </a:custGeom>
          <a:blipFill>
            <a:blip r:embed="rId9"/>
            <a:stretch>
              <a:fillRect l="0" t="0" r="0" b="0"/>
            </a:stretch>
          </a:blipFill>
        </p:spPr>
      </p:sp>
      <p:sp>
        <p:nvSpPr>
          <p:cNvPr name="Freeform 8" id="8"/>
          <p:cNvSpPr/>
          <p:nvPr/>
        </p:nvSpPr>
        <p:spPr>
          <a:xfrm flipH="false" flipV="false" rot="0">
            <a:off x="10841729" y="6934657"/>
            <a:ext cx="3277068" cy="1130589"/>
          </a:xfrm>
          <a:custGeom>
            <a:avLst/>
            <a:gdLst/>
            <a:ahLst/>
            <a:cxnLst/>
            <a:rect r="r" b="b" t="t" l="l"/>
            <a:pathLst>
              <a:path h="1130589" w="3277068">
                <a:moveTo>
                  <a:pt x="0" y="0"/>
                </a:moveTo>
                <a:lnTo>
                  <a:pt x="3277068" y="0"/>
                </a:lnTo>
                <a:lnTo>
                  <a:pt x="3277068" y="1130588"/>
                </a:lnTo>
                <a:lnTo>
                  <a:pt x="0" y="1130588"/>
                </a:lnTo>
                <a:lnTo>
                  <a:pt x="0" y="0"/>
                </a:lnTo>
                <a:close/>
              </a:path>
            </a:pathLst>
          </a:custGeom>
          <a:blipFill>
            <a:blip r:embed="rId10"/>
            <a:stretch>
              <a:fillRect l="0" t="0" r="0" b="0"/>
            </a:stretch>
          </a:blipFill>
        </p:spPr>
      </p:sp>
      <p:sp>
        <p:nvSpPr>
          <p:cNvPr name="Freeform 9" id="9"/>
          <p:cNvSpPr/>
          <p:nvPr/>
        </p:nvSpPr>
        <p:spPr>
          <a:xfrm flipH="false" flipV="false" rot="0">
            <a:off x="12731417" y="3120819"/>
            <a:ext cx="1292439" cy="1292439"/>
          </a:xfrm>
          <a:custGeom>
            <a:avLst/>
            <a:gdLst/>
            <a:ahLst/>
            <a:cxnLst/>
            <a:rect r="r" b="b" t="t" l="l"/>
            <a:pathLst>
              <a:path h="1292439" w="1292439">
                <a:moveTo>
                  <a:pt x="0" y="0"/>
                </a:moveTo>
                <a:lnTo>
                  <a:pt x="1292440" y="0"/>
                </a:lnTo>
                <a:lnTo>
                  <a:pt x="1292440" y="1292439"/>
                </a:lnTo>
                <a:lnTo>
                  <a:pt x="0" y="129243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7246338" y="2813860"/>
            <a:ext cx="1742834" cy="1740263"/>
          </a:xfrm>
          <a:custGeom>
            <a:avLst/>
            <a:gdLst/>
            <a:ahLst/>
            <a:cxnLst/>
            <a:rect r="r" b="b" t="t" l="l"/>
            <a:pathLst>
              <a:path h="1740263" w="1742834">
                <a:moveTo>
                  <a:pt x="0" y="0"/>
                </a:moveTo>
                <a:lnTo>
                  <a:pt x="1742834" y="0"/>
                </a:lnTo>
                <a:lnTo>
                  <a:pt x="1742834" y="1740263"/>
                </a:lnTo>
                <a:lnTo>
                  <a:pt x="0" y="1740263"/>
                </a:lnTo>
                <a:lnTo>
                  <a:pt x="0" y="0"/>
                </a:lnTo>
                <a:close/>
              </a:path>
            </a:pathLst>
          </a:custGeom>
          <a:blipFill>
            <a:blip r:embed="rId13"/>
            <a:stretch>
              <a:fillRect l="0" t="0" r="0" b="0"/>
            </a:stretch>
          </a:blipFill>
        </p:spPr>
      </p:sp>
      <p:sp>
        <p:nvSpPr>
          <p:cNvPr name="Freeform 11" id="11"/>
          <p:cNvSpPr/>
          <p:nvPr/>
        </p:nvSpPr>
        <p:spPr>
          <a:xfrm flipH="false" flipV="false" rot="0">
            <a:off x="15058460" y="3175141"/>
            <a:ext cx="2200840" cy="1238117"/>
          </a:xfrm>
          <a:custGeom>
            <a:avLst/>
            <a:gdLst/>
            <a:ahLst/>
            <a:cxnLst/>
            <a:rect r="r" b="b" t="t" l="l"/>
            <a:pathLst>
              <a:path h="1238117" w="2200840">
                <a:moveTo>
                  <a:pt x="0" y="0"/>
                </a:moveTo>
                <a:lnTo>
                  <a:pt x="2200840" y="0"/>
                </a:lnTo>
                <a:lnTo>
                  <a:pt x="2200840" y="1238117"/>
                </a:lnTo>
                <a:lnTo>
                  <a:pt x="0" y="1238117"/>
                </a:lnTo>
                <a:lnTo>
                  <a:pt x="0" y="0"/>
                </a:lnTo>
                <a:close/>
              </a:path>
            </a:pathLst>
          </a:custGeom>
          <a:blipFill>
            <a:blip r:embed="rId14"/>
            <a:stretch>
              <a:fillRect l="0" t="0" r="0" b="0"/>
            </a:stretch>
          </a:blipFill>
        </p:spPr>
      </p:sp>
      <p:sp>
        <p:nvSpPr>
          <p:cNvPr name="Freeform 12" id="12"/>
          <p:cNvSpPr/>
          <p:nvPr/>
        </p:nvSpPr>
        <p:spPr>
          <a:xfrm flipH="false" flipV="false" rot="0">
            <a:off x="15814466" y="5143500"/>
            <a:ext cx="1444834" cy="1444834"/>
          </a:xfrm>
          <a:custGeom>
            <a:avLst/>
            <a:gdLst/>
            <a:ahLst/>
            <a:cxnLst/>
            <a:rect r="r" b="b" t="t" l="l"/>
            <a:pathLst>
              <a:path h="1444834" w="1444834">
                <a:moveTo>
                  <a:pt x="0" y="0"/>
                </a:moveTo>
                <a:lnTo>
                  <a:pt x="1444834" y="0"/>
                </a:lnTo>
                <a:lnTo>
                  <a:pt x="1444834" y="1444834"/>
                </a:lnTo>
                <a:lnTo>
                  <a:pt x="0" y="1444834"/>
                </a:lnTo>
                <a:lnTo>
                  <a:pt x="0" y="0"/>
                </a:lnTo>
                <a:close/>
              </a:path>
            </a:pathLst>
          </a:custGeom>
          <a:blipFill>
            <a:blip r:embed="rId15"/>
            <a:stretch>
              <a:fillRect l="0" t="0" r="0" b="0"/>
            </a:stretch>
          </a:blipFill>
        </p:spPr>
      </p:sp>
      <p:sp>
        <p:nvSpPr>
          <p:cNvPr name="TextBox 13" id="13"/>
          <p:cNvSpPr txBox="true"/>
          <p:nvPr/>
        </p:nvSpPr>
        <p:spPr>
          <a:xfrm rot="0">
            <a:off x="714075" y="1930901"/>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Tehnologiile Folosite</a:t>
            </a:r>
          </a:p>
        </p:txBody>
      </p:sp>
      <p:sp>
        <p:nvSpPr>
          <p:cNvPr name="TextBox 14" id="14"/>
          <p:cNvSpPr txBox="true"/>
          <p:nvPr/>
        </p:nvSpPr>
        <p:spPr>
          <a:xfrm rot="0">
            <a:off x="912891" y="2953429"/>
            <a:ext cx="4542747" cy="2586254"/>
          </a:xfrm>
          <a:prstGeom prst="rect">
            <a:avLst/>
          </a:prstGeom>
        </p:spPr>
        <p:txBody>
          <a:bodyPr anchor="t" rtlCol="false" tIns="0" lIns="0" bIns="0" rIns="0">
            <a:spAutoFit/>
          </a:bodyPr>
          <a:lstStyle/>
          <a:p>
            <a:pPr algn="l">
              <a:lnSpc>
                <a:spcPts val="2053"/>
              </a:lnSpc>
            </a:pPr>
            <a:r>
              <a:rPr lang="en-US" sz="1901">
                <a:solidFill>
                  <a:srgbClr val="F2F4F8"/>
                </a:solidFill>
                <a:latin typeface="Roboto"/>
                <a:ea typeface="Roboto"/>
                <a:cs typeface="Roboto"/>
                <a:sym typeface="Roboto"/>
              </a:rPr>
              <a:t>Terraform - pentru ridicarea IaC</a:t>
            </a:r>
          </a:p>
          <a:p>
            <a:pPr algn="l">
              <a:lnSpc>
                <a:spcPts val="2053"/>
              </a:lnSpc>
            </a:pPr>
            <a:r>
              <a:rPr lang="en-US" sz="1901">
                <a:solidFill>
                  <a:srgbClr val="F2F4F8"/>
                </a:solidFill>
                <a:latin typeface="Roboto"/>
                <a:ea typeface="Roboto"/>
                <a:cs typeface="Roboto"/>
                <a:sym typeface="Roboto"/>
              </a:rPr>
              <a:t>GCP -  cloud </a:t>
            </a:r>
          </a:p>
          <a:p>
            <a:pPr algn="l">
              <a:lnSpc>
                <a:spcPts val="2053"/>
              </a:lnSpc>
            </a:pPr>
            <a:r>
              <a:rPr lang="en-US" sz="1901">
                <a:solidFill>
                  <a:srgbClr val="F2F4F8"/>
                </a:solidFill>
                <a:latin typeface="Roboto"/>
                <a:ea typeface="Roboto"/>
                <a:cs typeface="Roboto"/>
                <a:sym typeface="Roboto"/>
              </a:rPr>
              <a:t>Github - stocarea codului</a:t>
            </a:r>
          </a:p>
          <a:p>
            <a:pPr algn="l">
              <a:lnSpc>
                <a:spcPts val="2053"/>
              </a:lnSpc>
            </a:pPr>
            <a:r>
              <a:rPr lang="en-US" sz="1901">
                <a:solidFill>
                  <a:srgbClr val="F2F4F8"/>
                </a:solidFill>
                <a:latin typeface="Roboto"/>
                <a:ea typeface="Roboto"/>
                <a:cs typeface="Roboto"/>
                <a:sym typeface="Roboto"/>
              </a:rPr>
              <a:t>CICD - github actions</a:t>
            </a:r>
          </a:p>
          <a:p>
            <a:pPr algn="l">
              <a:lnSpc>
                <a:spcPts val="2053"/>
              </a:lnSpc>
            </a:pPr>
            <a:r>
              <a:rPr lang="en-US" sz="1901">
                <a:solidFill>
                  <a:srgbClr val="F2F4F8"/>
                </a:solidFill>
                <a:latin typeface="Roboto"/>
                <a:ea typeface="Roboto"/>
                <a:cs typeface="Roboto"/>
                <a:sym typeface="Roboto"/>
              </a:rPr>
              <a:t>Docker - containerizare</a:t>
            </a:r>
          </a:p>
          <a:p>
            <a:pPr algn="l">
              <a:lnSpc>
                <a:spcPts val="2053"/>
              </a:lnSpc>
            </a:pPr>
            <a:r>
              <a:rPr lang="en-US" sz="1901">
                <a:solidFill>
                  <a:srgbClr val="F2F4F8"/>
                </a:solidFill>
                <a:latin typeface="Roboto"/>
                <a:ea typeface="Roboto"/>
                <a:cs typeface="Roboto"/>
                <a:sym typeface="Roboto"/>
              </a:rPr>
              <a:t>Kubernetes - orchestrarea</a:t>
            </a:r>
          </a:p>
          <a:p>
            <a:pPr algn="l">
              <a:lnSpc>
                <a:spcPts val="2053"/>
              </a:lnSpc>
            </a:pPr>
            <a:r>
              <a:rPr lang="en-US" sz="1901">
                <a:solidFill>
                  <a:srgbClr val="F2F4F8"/>
                </a:solidFill>
                <a:latin typeface="Roboto"/>
                <a:ea typeface="Roboto"/>
                <a:cs typeface="Roboto"/>
                <a:sym typeface="Roboto"/>
              </a:rPr>
              <a:t>python - dezvoltarea chat bot si AI</a:t>
            </a:r>
          </a:p>
          <a:p>
            <a:pPr algn="l">
              <a:lnSpc>
                <a:spcPts val="2053"/>
              </a:lnSpc>
            </a:pPr>
            <a:r>
              <a:rPr lang="en-US" sz="1901">
                <a:solidFill>
                  <a:srgbClr val="F2F4F8"/>
                </a:solidFill>
                <a:latin typeface="Roboto"/>
                <a:ea typeface="Roboto"/>
                <a:cs typeface="Roboto"/>
                <a:sym typeface="Roboto"/>
              </a:rPr>
              <a:t>bash - livrare</a:t>
            </a:r>
          </a:p>
          <a:p>
            <a:pPr algn="l">
              <a:lnSpc>
                <a:spcPts val="2053"/>
              </a:lnSpc>
            </a:pPr>
            <a:r>
              <a:rPr lang="en-US" sz="1901">
                <a:solidFill>
                  <a:srgbClr val="F2F4F8"/>
                </a:solidFill>
                <a:latin typeface="Roboto"/>
                <a:ea typeface="Roboto"/>
                <a:cs typeface="Roboto"/>
                <a:sym typeface="Roboto"/>
              </a:rPr>
              <a:t>Redis - cache </a:t>
            </a:r>
          </a:p>
          <a:p>
            <a:pPr algn="l">
              <a:lnSpc>
                <a:spcPts val="2053"/>
              </a:lnSpc>
              <a:spcBef>
                <a:spcPct val="0"/>
              </a:spcBef>
            </a:pPr>
            <a:r>
              <a:rPr lang="en-US" sz="1901">
                <a:solidFill>
                  <a:srgbClr val="F2F4F8"/>
                </a:solidFill>
                <a:latin typeface="Roboto"/>
                <a:ea typeface="Roboto"/>
                <a:cs typeface="Roboto"/>
                <a:sym typeface="Roboto"/>
              </a:rPr>
              <a:t>ollama - AI local</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2034021" y="3693897"/>
            <a:ext cx="9335758" cy="5729821"/>
          </a:xfrm>
          <a:custGeom>
            <a:avLst/>
            <a:gdLst/>
            <a:ahLst/>
            <a:cxnLst/>
            <a:rect r="r" b="b" t="t" l="l"/>
            <a:pathLst>
              <a:path h="5729821" w="9335758">
                <a:moveTo>
                  <a:pt x="0" y="0"/>
                </a:moveTo>
                <a:lnTo>
                  <a:pt x="9335758" y="0"/>
                </a:lnTo>
                <a:lnTo>
                  <a:pt x="9335758" y="5729822"/>
                </a:lnTo>
                <a:lnTo>
                  <a:pt x="0" y="5729822"/>
                </a:lnTo>
                <a:lnTo>
                  <a:pt x="0" y="0"/>
                </a:lnTo>
                <a:close/>
              </a:path>
            </a:pathLst>
          </a:custGeom>
          <a:blipFill>
            <a:blip r:embed="rId4"/>
            <a:stretch>
              <a:fillRect l="0" t="0" r="0" b="0"/>
            </a:stretch>
          </a:blipFill>
        </p:spPr>
      </p:sp>
      <p:sp>
        <p:nvSpPr>
          <p:cNvPr name="TextBox 4" id="4"/>
          <p:cNvSpPr txBox="true"/>
          <p:nvPr/>
        </p:nvSpPr>
        <p:spPr>
          <a:xfrm rot="0">
            <a:off x="714075" y="1930901"/>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Rezultatul Final</a:t>
            </a:r>
          </a:p>
        </p:txBody>
      </p:sp>
      <p:sp>
        <p:nvSpPr>
          <p:cNvPr name="TextBox 5" id="5"/>
          <p:cNvSpPr txBox="true"/>
          <p:nvPr/>
        </p:nvSpPr>
        <p:spPr>
          <a:xfrm rot="0">
            <a:off x="3934974" y="2854850"/>
            <a:ext cx="16858355" cy="628650"/>
          </a:xfrm>
          <a:prstGeom prst="rect">
            <a:avLst/>
          </a:prstGeom>
        </p:spPr>
        <p:txBody>
          <a:bodyPr anchor="t" rtlCol="false" tIns="0" lIns="0" bIns="0" rIns="0">
            <a:spAutoFit/>
          </a:bodyPr>
          <a:lstStyle/>
          <a:p>
            <a:pPr algn="l">
              <a:lnSpc>
                <a:spcPts val="4920"/>
              </a:lnSpc>
            </a:pPr>
            <a:r>
              <a:rPr lang="en-US" sz="4100">
                <a:solidFill>
                  <a:srgbClr val="F2F4F8"/>
                </a:solidFill>
                <a:latin typeface="PT Serif"/>
                <a:ea typeface="PT Serif"/>
                <a:cs typeface="PT Serif"/>
                <a:sym typeface="PT Serif"/>
              </a:rPr>
              <a:t>Internet Magazinul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2020145" y="3666146"/>
            <a:ext cx="9335758" cy="5729821"/>
          </a:xfrm>
          <a:custGeom>
            <a:avLst/>
            <a:gdLst/>
            <a:ahLst/>
            <a:cxnLst/>
            <a:rect r="r" b="b" t="t" l="l"/>
            <a:pathLst>
              <a:path h="5729821" w="9335758">
                <a:moveTo>
                  <a:pt x="0" y="0"/>
                </a:moveTo>
                <a:lnTo>
                  <a:pt x="9335758" y="0"/>
                </a:lnTo>
                <a:lnTo>
                  <a:pt x="9335758" y="5729822"/>
                </a:lnTo>
                <a:lnTo>
                  <a:pt x="0" y="5729822"/>
                </a:lnTo>
                <a:lnTo>
                  <a:pt x="0" y="0"/>
                </a:lnTo>
                <a:close/>
              </a:path>
            </a:pathLst>
          </a:custGeom>
          <a:blipFill>
            <a:blip r:embed="rId4"/>
            <a:stretch>
              <a:fillRect l="0" t="0" r="0" b="0"/>
            </a:stretch>
          </a:blipFill>
        </p:spPr>
      </p:sp>
      <p:sp>
        <p:nvSpPr>
          <p:cNvPr name="TextBox 4" id="4"/>
          <p:cNvSpPr txBox="true"/>
          <p:nvPr/>
        </p:nvSpPr>
        <p:spPr>
          <a:xfrm rot="0">
            <a:off x="714075" y="1930901"/>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Rezultatul Final</a:t>
            </a:r>
          </a:p>
        </p:txBody>
      </p:sp>
      <p:sp>
        <p:nvSpPr>
          <p:cNvPr name="TextBox 5" id="5"/>
          <p:cNvSpPr txBox="true"/>
          <p:nvPr/>
        </p:nvSpPr>
        <p:spPr>
          <a:xfrm rot="0">
            <a:off x="3962725" y="2840974"/>
            <a:ext cx="16858355" cy="628650"/>
          </a:xfrm>
          <a:prstGeom prst="rect">
            <a:avLst/>
          </a:prstGeom>
        </p:spPr>
        <p:txBody>
          <a:bodyPr anchor="t" rtlCol="false" tIns="0" lIns="0" bIns="0" rIns="0">
            <a:spAutoFit/>
          </a:bodyPr>
          <a:lstStyle/>
          <a:p>
            <a:pPr algn="l">
              <a:lnSpc>
                <a:spcPts val="4920"/>
              </a:lnSpc>
            </a:pPr>
            <a:r>
              <a:rPr lang="en-US" sz="4100">
                <a:solidFill>
                  <a:srgbClr val="F2F4F8"/>
                </a:solidFill>
                <a:latin typeface="PT Serif"/>
                <a:ea typeface="PT Serif"/>
                <a:cs typeface="PT Serif"/>
                <a:sym typeface="PT Serif"/>
              </a:rPr>
              <a:t>Chat Asistent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Freeform 3" id="3"/>
          <p:cNvSpPr/>
          <p:nvPr/>
        </p:nvSpPr>
        <p:spPr>
          <a:xfrm flipH="false" flipV="false" rot="0">
            <a:off x="6647666" y="1560611"/>
            <a:ext cx="8750913" cy="8335245"/>
          </a:xfrm>
          <a:custGeom>
            <a:avLst/>
            <a:gdLst/>
            <a:ahLst/>
            <a:cxnLst/>
            <a:rect r="r" b="b" t="t" l="l"/>
            <a:pathLst>
              <a:path h="8335245" w="8750913">
                <a:moveTo>
                  <a:pt x="0" y="0"/>
                </a:moveTo>
                <a:lnTo>
                  <a:pt x="8750913" y="0"/>
                </a:lnTo>
                <a:lnTo>
                  <a:pt x="8750913" y="8335245"/>
                </a:lnTo>
                <a:lnTo>
                  <a:pt x="0" y="8335245"/>
                </a:lnTo>
                <a:lnTo>
                  <a:pt x="0" y="0"/>
                </a:lnTo>
                <a:close/>
              </a:path>
            </a:pathLst>
          </a:custGeom>
          <a:blipFill>
            <a:blip r:embed="rId4"/>
            <a:stretch>
              <a:fillRect l="0" t="0" r="0" b="0"/>
            </a:stretch>
          </a:blipFill>
        </p:spPr>
      </p:sp>
      <p:sp>
        <p:nvSpPr>
          <p:cNvPr name="TextBox 4" id="4"/>
          <p:cNvSpPr txBox="true"/>
          <p:nvPr/>
        </p:nvSpPr>
        <p:spPr>
          <a:xfrm rot="0">
            <a:off x="714075" y="1930901"/>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Rezultatul Final</a:t>
            </a:r>
          </a:p>
        </p:txBody>
      </p:sp>
      <p:sp>
        <p:nvSpPr>
          <p:cNvPr name="TextBox 5" id="5"/>
          <p:cNvSpPr txBox="true"/>
          <p:nvPr/>
        </p:nvSpPr>
        <p:spPr>
          <a:xfrm rot="0">
            <a:off x="3962725" y="2840974"/>
            <a:ext cx="16858355" cy="628650"/>
          </a:xfrm>
          <a:prstGeom prst="rect">
            <a:avLst/>
          </a:prstGeom>
        </p:spPr>
        <p:txBody>
          <a:bodyPr anchor="t" rtlCol="false" tIns="0" lIns="0" bIns="0" rIns="0">
            <a:spAutoFit/>
          </a:bodyPr>
          <a:lstStyle/>
          <a:p>
            <a:pPr algn="l">
              <a:lnSpc>
                <a:spcPts val="4920"/>
              </a:lnSpc>
            </a:pPr>
            <a:r>
              <a:rPr lang="en-US" sz="4100">
                <a:solidFill>
                  <a:srgbClr val="F2F4F8"/>
                </a:solidFill>
                <a:latin typeface="PT Serif"/>
                <a:ea typeface="PT Serif"/>
                <a:cs typeface="PT Serif"/>
                <a:sym typeface="PT Serif"/>
              </a:rPr>
              <a:t>Chat UI</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sp>
        <p:nvSpPr>
          <p:cNvPr name="TextBox 3" id="3"/>
          <p:cNvSpPr txBox="true"/>
          <p:nvPr/>
        </p:nvSpPr>
        <p:spPr>
          <a:xfrm rot="0">
            <a:off x="714075" y="1930901"/>
            <a:ext cx="16858355" cy="838200"/>
          </a:xfrm>
          <a:prstGeom prst="rect">
            <a:avLst/>
          </a:prstGeom>
        </p:spPr>
        <p:txBody>
          <a:bodyPr anchor="t" rtlCol="false" tIns="0" lIns="0" bIns="0" rIns="0">
            <a:spAutoFit/>
          </a:bodyPr>
          <a:lstStyle/>
          <a:p>
            <a:pPr algn="l">
              <a:lnSpc>
                <a:spcPts val="6719"/>
              </a:lnSpc>
            </a:pPr>
            <a:r>
              <a:rPr lang="en-US" b="true" sz="5599">
                <a:solidFill>
                  <a:srgbClr val="F2F4F8"/>
                </a:solidFill>
                <a:latin typeface="PT Serif Bold"/>
                <a:ea typeface="PT Serif Bold"/>
                <a:cs typeface="PT Serif Bold"/>
                <a:sym typeface="PT Serif Bold"/>
              </a:rPr>
              <a:t>Concluzie</a:t>
            </a:r>
          </a:p>
        </p:txBody>
      </p:sp>
      <p:sp>
        <p:nvSpPr>
          <p:cNvPr name="TextBox 4" id="4"/>
          <p:cNvSpPr txBox="true"/>
          <p:nvPr/>
        </p:nvSpPr>
        <p:spPr>
          <a:xfrm rot="0">
            <a:off x="4537121" y="5236315"/>
            <a:ext cx="9212263" cy="838200"/>
          </a:xfrm>
          <a:prstGeom prst="rect">
            <a:avLst/>
          </a:prstGeom>
        </p:spPr>
        <p:txBody>
          <a:bodyPr anchor="t" rtlCol="false" tIns="0" lIns="0" bIns="0" rIns="0">
            <a:spAutoFit/>
          </a:bodyPr>
          <a:lstStyle/>
          <a:p>
            <a:pPr algn="ctr">
              <a:lnSpc>
                <a:spcPts val="6720"/>
              </a:lnSpc>
              <a:spcBef>
                <a:spcPct val="0"/>
              </a:spcBef>
            </a:pPr>
            <a:r>
              <a:rPr lang="en-US" b="true" sz="5600">
                <a:solidFill>
                  <a:srgbClr val="F2F4F8"/>
                </a:solidFill>
                <a:latin typeface="PT Serif Bold"/>
                <a:ea typeface="PT Serif Bold"/>
                <a:cs typeface="PT Serif Bold"/>
                <a:sym typeface="PT Serif Bold"/>
              </a:rPr>
              <a:t>Multumesc Pentru Atentie!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DAHCKmX0lfM</dc:identifier>
  <dcterms:modified xsi:type="dcterms:W3CDTF">2011-08-01T06:04:30Z</dcterms:modified>
  <cp:revision>1</cp:revision>
  <dc:title>fcim-template.pptx</dc:title>
</cp:coreProperties>
</file>